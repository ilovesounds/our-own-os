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141418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548640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5200" b="1">
                <a:solidFill>
                  <a:srgbClr val="A3E635"/>
                </a:solidFill>
                <a:latin typeface="Consolas"/>
              </a:defRPr>
            </a:pPr>
            <a:r>
              <a:t>KRATOS 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54864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Calibri"/>
              </a:defRPr>
            </a:pPr>
            <a:r>
              <a:t>The Self-Healing Multi-Agentic</a:t>
            </a:r>
            <a:br/>
            <a:r>
              <a:t>Sandbox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Courier New"/>
              </a:defRPr>
            </a:pPr>
            <a:r>
              <a:t>PROMPT | DEVCORE | CHAOS | CHRONOS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52525B"/>
                </a:solidFill>
                <a:latin typeface="Courier New"/>
              </a:defRPr>
            </a:pPr>
            <a:r>
              <a:t>LANGGRAPH ENGINE  •  HYDRADB TIMELINE LEDGER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766560" y="1188720"/>
            <a:ext cx="4389120" cy="4389120"/>
          </a:xfrm>
          <a:prstGeom prst="rect">
            <a:avLst/>
          </a:prstGeom>
          <a:solidFill>
            <a:srgbClr val="0A0A0C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re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234440"/>
            <a:ext cx="4297680" cy="4297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52525B"/>
                </a:solidFill>
                <a:latin typeface="Courier New"/>
              </a:defRPr>
            </a:pPr>
            <a:r>
              <a:t>KRATOS OS SANDBOX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44652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0">
                <a:solidFill>
                  <a:srgbClr val="52525B"/>
                </a:solidFill>
                <a:latin typeface="Courier New"/>
              </a:defRPr>
            </a:pPr>
            <a:r>
              <a:t>CONFIDENTIAL // DEVONLY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A3E635"/>
                </a:solidFill>
                <a:latin typeface="Courier New"/>
              </a:defRPr>
            </a:pPr>
            <a:r>
              <a:t>SLIDE 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418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1">
                <a:solidFill>
                  <a:srgbClr val="A3E635"/>
                </a:solidFill>
                <a:latin typeface="Courier New"/>
              </a:defRPr>
            </a:pPr>
            <a:r>
              <a:t>THE OPERATIONAL HAZARDS OF LLM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73152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onsolas"/>
              </a:defRPr>
            </a:pPr>
            <a:r>
              <a:t>The Problem: Failure in Agentic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9875520" y="320040"/>
            <a:ext cx="1767535" cy="365760"/>
          </a:xfrm>
          <a:prstGeom prst="rect">
            <a:avLst/>
          </a:prstGeom>
          <a:solidFill>
            <a:srgbClr val="0A0A0C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384048"/>
            <a:ext cx="1767535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900" b="1">
                <a:solidFill>
                  <a:srgbClr val="A3E635"/>
                </a:solidFill>
                <a:latin typeface="Courier New"/>
              </a:defRPr>
            </a:pPr>
            <a:r>
              <a:t>KRATOS OS V1.0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03520" cy="4754880"/>
          </a:xfrm>
          <a:prstGeom prst="rect">
            <a:avLst/>
          </a:prstGeom>
          <a:solidFill>
            <a:srgbClr val="141418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484632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onsolas"/>
              </a:defRPr>
            </a:pPr>
            <a:r>
              <a:t>Operational Vulnerabilities in AI Runtimes:</a:t>
            </a:r>
          </a:p>
          <a:p>
            <a:pPr>
              <a:defRPr sz="1200" b="0">
                <a:solidFill>
                  <a:srgbClr val="A1A1AA"/>
                </a:solidFill>
                <a:latin typeface="Calibri"/>
              </a:defRPr>
            </a:pPr>
            <a:r>
              <a:t>Silent Logic Failures: LLMs frequently generate broken parameters or route incorrectly without firing stderr exits.</a:t>
            </a:r>
          </a:p>
          <a:p>
            <a:pPr>
              <a:defRPr sz="1200" b="0">
                <a:solidFill>
                  <a:srgbClr val="A1A1AA"/>
                </a:solidFill>
                <a:latin typeface="Calibri"/>
              </a:defRPr>
            </a:pPr>
            <a:r>
              <a:t>Missing Agentic Telemetry: Multi-agent message loops and state dependencies are obscured in standard log streams.</a:t>
            </a:r>
          </a:p>
          <a:p>
            <a:pPr>
              <a:defRPr sz="1200" b="0">
                <a:solidFill>
                  <a:srgbClr val="A1A1AA"/>
                </a:solidFill>
                <a:latin typeface="Calibri"/>
              </a:defRPr>
            </a:pPr>
            <a:r>
              <a:t>Irreversible State Mutations: File writes and workspace alterations cannot be recovered without full git rollbacks.</a:t>
            </a:r>
          </a:p>
          <a:p>
            <a:pPr>
              <a:defRPr sz="1200" b="0">
                <a:solidFill>
                  <a:srgbClr val="A1A1AA"/>
                </a:solidFill>
                <a:latin typeface="Calibri"/>
              </a:defRPr>
            </a:pPr>
            <a:r>
              <a:t>Lack of Automated Recovery: A compilation crash completely interrupts pipeline tasks, requiring human repair.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394960" cy="2194560"/>
          </a:xfrm>
          <a:prstGeom prst="rect">
            <a:avLst/>
          </a:prstGeom>
          <a:solidFill>
            <a:srgbClr val="0A0A0C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roken_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17320"/>
            <a:ext cx="5303520" cy="21031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217920" y="3749039"/>
            <a:ext cx="5394960" cy="2377440"/>
          </a:xfrm>
          <a:prstGeom prst="rect">
            <a:avLst/>
          </a:prstGeom>
          <a:solidFill>
            <a:srgbClr val="0F0A0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3840480"/>
            <a:ext cx="48463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00" b="1">
                <a:solidFill>
                  <a:srgbClr val="EF4444"/>
                </a:solidFill>
                <a:latin typeface="Courier New"/>
              </a:defRPr>
            </a:pPr>
            <a:r>
              <a:t>// CRITICAL THREAD EXCEPTION TRACE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206240"/>
            <a:ext cx="484632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>
                <a:solidFill>
                  <a:srgbClr val="A1A1AA"/>
                </a:solidFill>
                <a:latin typeface="Courier New"/>
              </a:defRPr>
            </a:pPr>
            <a:r>
              <a:t>File "db_connection.py", line 12, in get_db_client</a:t>
            </a:r>
          </a:p>
          <a:p>
            <a:pPr>
              <a:defRPr sz="900" b="0">
                <a:solidFill>
                  <a:srgbClr val="A1A1AA"/>
                </a:solidFill>
                <a:latin typeface="Courier New"/>
              </a:defRPr>
            </a:pPr>
            <a:r>
              <a:t>  raise ConnectionError("HydraDB socket timeout")</a:t>
            </a:r>
          </a:p>
          <a:p>
            <a:pPr>
              <a:defRPr sz="900" b="1">
                <a:solidFill>
                  <a:srgbClr val="EF4444"/>
                </a:solidFill>
                <a:latin typeface="Courier New"/>
              </a:defRPr>
            </a:pPr>
            <a:r>
              <a:t>ConnectionError: HydraDB socket timeout (code 504)</a:t>
            </a:r>
          </a:p>
          <a:p>
            <a:pPr>
              <a:defRPr sz="900" b="0">
                <a:solidFill>
                  <a:srgbClr val="52525B"/>
                </a:solidFill>
                <a:latin typeface="Courier New"/>
              </a:defRPr>
            </a:pPr>
            <a:r>
              <a:t>[FATAL] Thread loop terminated. Workspace locked.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52525B"/>
                </a:solidFill>
                <a:latin typeface="Courier New"/>
              </a:defRPr>
            </a:pPr>
            <a:r>
              <a:t>KRATOS OS SANDBOX SYSTEMS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644652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0">
                <a:solidFill>
                  <a:srgbClr val="52525B"/>
                </a:solidFill>
                <a:latin typeface="Courier New"/>
              </a:defRPr>
            </a:pPr>
            <a:r>
              <a:t>CONFIDENTIAL // DEVONLY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A3E635"/>
                </a:solidFill>
                <a:latin typeface="Courier New"/>
              </a:defRPr>
            </a:pPr>
            <a:r>
              <a:t>SLIDE 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418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1">
                <a:solidFill>
                  <a:srgbClr val="A3E635"/>
                </a:solidFill>
                <a:latin typeface="Courier New"/>
              </a:defRPr>
            </a:pPr>
            <a:r>
              <a:t>CLOSED-LOOP AGENT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73152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onsolas"/>
              </a:defRPr>
            </a:pPr>
            <a:r>
              <a:t>The Kratos OS Paradigm: Core Orchestration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875520" y="320040"/>
            <a:ext cx="1767535" cy="365760"/>
          </a:xfrm>
          <a:prstGeom prst="rect">
            <a:avLst/>
          </a:prstGeom>
          <a:solidFill>
            <a:srgbClr val="0A0A0C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384048"/>
            <a:ext cx="1767535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900" b="1">
                <a:solidFill>
                  <a:srgbClr val="A3E635"/>
                </a:solidFill>
                <a:latin typeface="Courier New"/>
              </a:defRPr>
            </a:pPr>
            <a:r>
              <a:t>KRATOS OS V1.0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3447288" cy="4754880"/>
          </a:xfrm>
          <a:prstGeom prst="rect">
            <a:avLst/>
          </a:prstGeom>
          <a:solidFill>
            <a:srgbClr val="141418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3081528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A3E635"/>
                </a:solidFill>
                <a:latin typeface="Courier New"/>
              </a:defRPr>
            </a:pPr>
            <a:r>
              <a:t>01 / INTENT PARSING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3081528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onsolas"/>
              </a:defRPr>
            </a:pPr>
            <a:r>
              <a:t>Structured Goal Building:</a:t>
            </a:r>
          </a:p>
          <a:p>
            <a:pPr>
              <a:defRPr sz="1100" b="0">
                <a:solidFill>
                  <a:srgbClr val="A1A1AA"/>
                </a:solidFill>
                <a:latin typeface="Calibri"/>
              </a:defRPr>
            </a:pPr>
            <a:r>
              <a:t>Translates messy conversational language into executable JSON steps.</a:t>
            </a:r>
          </a:p>
          <a:p>
            <a:pPr>
              <a:defRPr sz="1100" b="0">
                <a:solidFill>
                  <a:srgbClr val="A1A1AA"/>
                </a:solidFill>
                <a:latin typeface="Calibri"/>
              </a:defRPr>
            </a:pPr>
            <a:r>
              <a:t>Evaluates file dependencies and locks correct workspace nodes before operations.</a:t>
            </a:r>
          </a:p>
          <a:p>
            <a:pPr>
              <a:defRPr sz="1100" b="0">
                <a:solidFill>
                  <a:srgbClr val="A1A1AA"/>
                </a:solidFill>
                <a:latin typeface="Calibri"/>
              </a:defRPr>
            </a:pPr>
            <a:r>
              <a:t>Establishes automated unit test boundaries to check code correctness.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1688" y="1371600"/>
            <a:ext cx="3447288" cy="4754880"/>
          </a:xfrm>
          <a:prstGeom prst="rect">
            <a:avLst/>
          </a:prstGeom>
          <a:solidFill>
            <a:srgbClr val="141418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554480"/>
            <a:ext cx="3081528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  <a:latin typeface="Courier New"/>
              </a:defRPr>
            </a:pPr>
            <a:r>
              <a:t>02 / CLOSED-LOOP 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011680"/>
            <a:ext cx="3081528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onsolas"/>
              </a:defRPr>
            </a:pPr>
            <a:r>
              <a:t>Self-Healing Runtimes:</a:t>
            </a:r>
          </a:p>
          <a:p>
            <a:pPr>
              <a:defRPr sz="1100" b="0">
                <a:solidFill>
                  <a:srgbClr val="A1A1AA"/>
                </a:solidFill>
                <a:latin typeface="Calibri"/>
              </a:defRPr>
            </a:pPr>
            <a:r>
              <a:t>Integrates Planner, Coder, and Tester in a continuous execution cycle.</a:t>
            </a:r>
          </a:p>
          <a:p>
            <a:pPr>
              <a:defRPr sz="1100" b="0">
                <a:solidFill>
                  <a:srgbClr val="A1A1AA"/>
                </a:solidFill>
                <a:latin typeface="Calibri"/>
              </a:defRPr>
            </a:pPr>
            <a:r>
              <a:t>If verification fails, the Corrector Core rewrites the target module immediately.</a:t>
            </a:r>
          </a:p>
          <a:p>
            <a:pPr>
              <a:defRPr sz="1100" b="0">
                <a:solidFill>
                  <a:srgbClr val="A1A1AA"/>
                </a:solidFill>
                <a:latin typeface="Calibri"/>
              </a:defRPr>
            </a:pPr>
            <a:r>
              <a:t>Prevents syntax error propagation to active user endpoints.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74736" y="1371600"/>
            <a:ext cx="3447288" cy="4754880"/>
          </a:xfrm>
          <a:prstGeom prst="rect">
            <a:avLst/>
          </a:prstGeom>
          <a:solidFill>
            <a:srgbClr val="141418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6" y="1554480"/>
            <a:ext cx="3081528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ourier New"/>
              </a:defRPr>
            </a:pPr>
            <a:r>
              <a:t>03 / LEDGER ROLLBACK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6" y="2011680"/>
            <a:ext cx="3081528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onsolas"/>
              </a:defRPr>
            </a:pPr>
            <a:r>
              <a:t>Immutable Snapshots:</a:t>
            </a:r>
          </a:p>
          <a:p>
            <a:pPr>
              <a:defRPr sz="1100" b="0">
                <a:solidFill>
                  <a:srgbClr val="A1A1AA"/>
                </a:solidFill>
                <a:latin typeface="Calibri"/>
              </a:defRPr>
            </a:pPr>
            <a:r>
              <a:t>Saves full workspace state checks at every agent state transition.</a:t>
            </a:r>
          </a:p>
          <a:p>
            <a:pPr>
              <a:defRPr sz="1100" b="0">
                <a:solidFill>
                  <a:srgbClr val="A1A1AA"/>
                </a:solidFill>
                <a:latin typeface="Calibri"/>
              </a:defRPr>
            </a:pPr>
            <a:r>
              <a:t>Enables absolute time-travel recovery of code buffers and checklists.</a:t>
            </a:r>
          </a:p>
          <a:p>
            <a:pPr>
              <a:defRPr sz="1100" b="0">
                <a:solidFill>
                  <a:srgbClr val="A1A1AA"/>
                </a:solidFill>
                <a:latin typeface="Calibri"/>
              </a:defRPr>
            </a:pPr>
            <a:r>
              <a:t>Uses HydraDB client integration to secure and verify system journals.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52525B"/>
                </a:solidFill>
                <a:latin typeface="Courier New"/>
              </a:defRPr>
            </a:pPr>
            <a:r>
              <a:t>KRATOS OS SANDBOX 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4652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0">
                <a:solidFill>
                  <a:srgbClr val="52525B"/>
                </a:solidFill>
                <a:latin typeface="Courier New"/>
              </a:defRPr>
            </a:pPr>
            <a:r>
              <a:t>CONFIDENTIAL // DEVONLY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A3E635"/>
                </a:solidFill>
                <a:latin typeface="Courier New"/>
              </a:defRPr>
            </a:pPr>
            <a:r>
              <a:t>SLIDE 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418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1">
                <a:solidFill>
                  <a:srgbClr val="A3E635"/>
                </a:solidFill>
                <a:latin typeface="Courier New"/>
              </a:defRPr>
            </a:pPr>
            <a:r>
              <a:t>CORES 00 AND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73152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onsolas"/>
              </a:defRPr>
            </a:pPr>
            <a:r>
              <a:t>6-Core Processor: Planning &amp; Coding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875520" y="320040"/>
            <a:ext cx="1767535" cy="365760"/>
          </a:xfrm>
          <a:prstGeom prst="rect">
            <a:avLst/>
          </a:prstGeom>
          <a:solidFill>
            <a:srgbClr val="0A0A0C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384048"/>
            <a:ext cx="1767535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900" b="1">
                <a:solidFill>
                  <a:srgbClr val="A3E635"/>
                </a:solidFill>
                <a:latin typeface="Courier New"/>
              </a:defRPr>
            </a:pPr>
            <a:r>
              <a:t>KRATOS OS V1.0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03520" cy="4754880"/>
          </a:xfrm>
          <a:prstGeom prst="rect">
            <a:avLst/>
          </a:prstGeom>
          <a:solidFill>
            <a:srgbClr val="141418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4754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A3E635"/>
                </a:solidFill>
                <a:latin typeface="Courier New"/>
              </a:defRPr>
            </a:pPr>
            <a:r>
              <a:t>CORE 00 // PLANNER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4754880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Checklist Generation and Dependency Mapping</a:t>
            </a:r>
          </a:p>
          <a:p>
            <a:pPr>
              <a:defRPr sz="1200" b="0">
                <a:solidFill>
                  <a:srgbClr val="A1A1AA"/>
                </a:solidFill>
                <a:latin typeface="Calibri"/>
              </a:defRPr>
            </a:pPr>
            <a:r>
              <a:t>Role: Translates user intent into step-by-step checklists.</a:t>
            </a:r>
          </a:p>
          <a:p>
            <a:pPr>
              <a:defRPr sz="1200" b="0">
                <a:solidFill>
                  <a:srgbClr val="A1A1AA"/>
                </a:solidFill>
                <a:latin typeface="Calibri"/>
              </a:defRPr>
            </a:pPr>
            <a:r>
              <a:t>Parsing: Breaks down file structures, routing targets, and specific verification requirements.</a:t>
            </a:r>
          </a:p>
          <a:p>
            <a:pPr>
              <a:defRPr sz="1200" b="0">
                <a:solidFill>
                  <a:srgbClr val="A1A1AA"/>
                </a:solidFill>
                <a:latin typeface="Calibri"/>
              </a:defRPr>
            </a:pPr>
            <a:r>
              <a:t>Integrations: Formulates validation conditions that Core 02 must test against.</a:t>
            </a:r>
          </a:p>
          <a:p>
            <a:pPr>
              <a:defRPr sz="1200" b="0">
                <a:solidFill>
                  <a:srgbClr val="A1A1AA"/>
                </a:solidFill>
                <a:latin typeface="Calibri"/>
              </a:defRPr>
            </a:pPr>
            <a:r>
              <a:t>Output: JSON action sequence outlining file modifications.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394960" cy="4754880"/>
          </a:xfrm>
          <a:prstGeom prst="rect">
            <a:avLst/>
          </a:prstGeom>
          <a:solidFill>
            <a:srgbClr val="141418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48463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A3E635"/>
                </a:solidFill>
                <a:latin typeface="Courier New"/>
              </a:defRPr>
            </a:pPr>
            <a:r>
              <a:t>CORE 01 // CODER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11680"/>
            <a:ext cx="4846320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Source Code Construction and File Buffering</a:t>
            </a:r>
          </a:p>
          <a:p>
            <a:pPr>
              <a:defRPr sz="1200" b="0">
                <a:solidFill>
                  <a:srgbClr val="A1A1AA"/>
                </a:solidFill>
                <a:latin typeface="Calibri"/>
              </a:defRPr>
            </a:pPr>
            <a:r>
              <a:t>Role: Receives steps from the Planner and writes source code.</a:t>
            </a:r>
          </a:p>
          <a:p>
            <a:pPr>
              <a:defRPr sz="1200" b="0">
                <a:solidFill>
                  <a:srgbClr val="A1A1AA"/>
                </a:solidFill>
                <a:latin typeface="Calibri"/>
              </a:defRPr>
            </a:pPr>
            <a:r>
              <a:t>Tasks: Autonomously scaffolds layouts, styles components, and implements backend FastAPI endpoint logics.</a:t>
            </a:r>
          </a:p>
          <a:p>
            <a:pPr>
              <a:defRPr sz="1200" b="0">
                <a:solidFill>
                  <a:srgbClr val="A1A1AA"/>
                </a:solidFill>
                <a:latin typeface="Calibri"/>
              </a:defRPr>
            </a:pPr>
            <a:r>
              <a:t>Write Cycle: Directly modifies files within the project buffer, preserving unchanged methods.</a:t>
            </a:r>
          </a:p>
          <a:p>
            <a:pPr>
              <a:defRPr sz="1200" b="0">
                <a:solidFill>
                  <a:srgbClr val="A1A1AA"/>
                </a:solidFill>
                <a:latin typeface="Calibri"/>
              </a:defRPr>
            </a:pPr>
            <a:r>
              <a:t>Target: Generates both server-side logic and frontend interfaces.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52525B"/>
                </a:solidFill>
                <a:latin typeface="Courier New"/>
              </a:defRPr>
            </a:pPr>
            <a:r>
              <a:t>KRATOS OS SANDBOX SYSTEMS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644652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0">
                <a:solidFill>
                  <a:srgbClr val="52525B"/>
                </a:solidFill>
                <a:latin typeface="Courier New"/>
              </a:defRPr>
            </a:pPr>
            <a:r>
              <a:t>CONFIDENTIAL // DEVONLY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A3E635"/>
                </a:solidFill>
                <a:latin typeface="Courier New"/>
              </a:defRPr>
            </a:pPr>
            <a:r>
              <a:t>SLIDE 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418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1">
                <a:solidFill>
                  <a:srgbClr val="A3E635"/>
                </a:solidFill>
                <a:latin typeface="Courier New"/>
              </a:defRPr>
            </a:pPr>
            <a:r>
              <a:t>CORES 02 TO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73152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onsolas"/>
              </a:defRPr>
            </a:pPr>
            <a:r>
              <a:t>6-Core Processor: Runtime, Self-Healing &amp; Ledger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9875520" y="320040"/>
            <a:ext cx="1767535" cy="365760"/>
          </a:xfrm>
          <a:prstGeom prst="rect">
            <a:avLst/>
          </a:prstGeom>
          <a:solidFill>
            <a:srgbClr val="0A0A0C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384048"/>
            <a:ext cx="1767535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900" b="1">
                <a:solidFill>
                  <a:srgbClr val="A3E635"/>
                </a:solidFill>
                <a:latin typeface="Courier New"/>
              </a:defRPr>
            </a:pPr>
            <a:r>
              <a:t>KRATOS OS V1.0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03520" cy="2194560"/>
          </a:xfrm>
          <a:prstGeom prst="rect">
            <a:avLst/>
          </a:prstGeom>
          <a:solidFill>
            <a:srgbClr val="141418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4937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Courier New"/>
              </a:defRPr>
            </a:pPr>
            <a:r>
              <a:t>CORE 02 // TESTER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83080"/>
            <a:ext cx="4937760" cy="1691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>
                <a:solidFill>
                  <a:srgbClr val="A1A1AA"/>
                </a:solidFill>
                <a:latin typeface="Calibri"/>
              </a:defRPr>
            </a:pPr>
            <a:r>
              <a:t>Runs automated checks, verifies compilation status, and asserts outputs. Translates validation errors to clear corrector guidelines.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303520" cy="2194560"/>
          </a:xfrm>
          <a:prstGeom prst="rect">
            <a:avLst/>
          </a:prstGeom>
          <a:solidFill>
            <a:srgbClr val="141418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4937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Courier New"/>
              </a:defRPr>
            </a:pPr>
            <a:r>
              <a:t>CORE 03 // CORRECTOR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783080"/>
            <a:ext cx="4937760" cy="1691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>
                <a:solidFill>
                  <a:srgbClr val="A1A1AA"/>
                </a:solidFill>
                <a:latin typeface="Calibri"/>
              </a:defRPr>
            </a:pPr>
            <a:r>
              <a:t>Captures stdout/stderr traces from Core 02 failures. Parses traceback line exceptions, edits the broken segment, and schedules a compiler recheck.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31920"/>
            <a:ext cx="5303520" cy="2194560"/>
          </a:xfrm>
          <a:prstGeom prst="rect">
            <a:avLst/>
          </a:prstGeom>
          <a:solidFill>
            <a:srgbClr val="141418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4937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Courier New"/>
              </a:defRPr>
            </a:pPr>
            <a:r>
              <a:t>CORE 04 // DEPLOYER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43400"/>
            <a:ext cx="4937760" cy="1691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>
                <a:solidFill>
                  <a:srgbClr val="A1A1AA"/>
                </a:solidFill>
                <a:latin typeface="Calibri"/>
              </a:defRPr>
            </a:pPr>
            <a:r>
              <a:t>Takes successful code buffers, manages system assets, executes production builds, restarts the web kernel, and updates active UI components.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931920"/>
            <a:ext cx="5303520" cy="2194560"/>
          </a:xfrm>
          <a:prstGeom prst="rect">
            <a:avLst/>
          </a:prstGeom>
          <a:solidFill>
            <a:srgbClr val="141418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023360"/>
            <a:ext cx="49377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Courier New"/>
              </a:defRPr>
            </a:pPr>
            <a:r>
              <a:t>CORE 05 // LEDGER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343400"/>
            <a:ext cx="4937760" cy="1691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>
                <a:solidFill>
                  <a:srgbClr val="A1A1AA"/>
                </a:solidFill>
                <a:latin typeface="Calibri"/>
              </a:defRPr>
            </a:pPr>
            <a:r>
              <a:t>Persists execution history. Records planner status, snapshot hashes, file buffers, and timestamps in an immutable local timeline ledger.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52525B"/>
                </a:solidFill>
                <a:latin typeface="Courier New"/>
              </a:defRPr>
            </a:pPr>
            <a:r>
              <a:t>KRATOS OS SANDBOX SYSTEMS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4652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0">
                <a:solidFill>
                  <a:srgbClr val="52525B"/>
                </a:solidFill>
                <a:latin typeface="Courier New"/>
              </a:defRPr>
            </a:pPr>
            <a:r>
              <a:t>CONFIDENTIAL // DEVONLY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A3E635"/>
                </a:solidFill>
                <a:latin typeface="Courier New"/>
              </a:defRPr>
            </a:pPr>
            <a:r>
              <a:t>SLIDE 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418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1">
                <a:solidFill>
                  <a:srgbClr val="A3E635"/>
                </a:solidFill>
                <a:latin typeface="Courier New"/>
              </a:defRPr>
            </a:pPr>
            <a:r>
              <a:t>SYSTEM MODES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73152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onsolas"/>
              </a:defRPr>
            </a:pPr>
            <a:r>
              <a:t>Mode 01: Prompt Mode (Intent Compiler)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9875520" y="320040"/>
            <a:ext cx="1767535" cy="365760"/>
          </a:xfrm>
          <a:prstGeom prst="rect">
            <a:avLst/>
          </a:prstGeom>
          <a:solidFill>
            <a:srgbClr val="0A0A0C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384048"/>
            <a:ext cx="1767535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900" b="1">
                <a:solidFill>
                  <a:srgbClr val="A3E635"/>
                </a:solidFill>
                <a:latin typeface="Courier New"/>
              </a:defRPr>
            </a:pPr>
            <a:r>
              <a:t>KRATOS OS V1.0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03520" cy="4754880"/>
          </a:xfrm>
          <a:prstGeom prst="rect">
            <a:avLst/>
          </a:prstGeom>
          <a:solidFill>
            <a:srgbClr val="141418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47548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Natural Language Action Compiler</a:t>
            </a:r>
          </a:p>
          <a:p>
            <a:pPr>
              <a:defRPr sz="1200" b="0">
                <a:solidFill>
                  <a:srgbClr val="A1A1AA"/>
                </a:solidFill>
                <a:latin typeface="Calibri"/>
              </a:defRPr>
            </a:pPr>
            <a:r>
              <a:t>Input Channel: Developers interact with a sleek, conversational dashboard.</a:t>
            </a:r>
          </a:p>
          <a:p>
            <a:pPr>
              <a:defRPr sz="1200" b="0">
                <a:solidFill>
                  <a:srgbClr val="A1A1AA"/>
                </a:solidFill>
                <a:latin typeface="Calibri"/>
              </a:defRPr>
            </a:pPr>
            <a:r>
              <a:t>LLM Orchestrator: Leverages Llama 3.3 and Claude 3.5 Sonnet to map raw goals to structured schemas.</a:t>
            </a:r>
          </a:p>
          <a:p>
            <a:pPr>
              <a:defRPr sz="1200" b="0">
                <a:solidFill>
                  <a:srgbClr val="A1A1AA"/>
                </a:solidFill>
                <a:latin typeface="Calibri"/>
              </a:defRPr>
            </a:pPr>
            <a:r>
              <a:t>Schema Output: Generates target file paths, parameter limits, and core routing logic.</a:t>
            </a:r>
          </a:p>
          <a:p>
            <a:pPr>
              <a:defRPr sz="1200" b="0">
                <a:solidFill>
                  <a:srgbClr val="A1A1AA"/>
                </a:solidFill>
                <a:latin typeface="Calibri"/>
              </a:defRPr>
            </a:pPr>
            <a:r>
              <a:t>Task Queuing: Automatically sets core co-processor registers to PLANNING or WRITING to begin work.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394960" cy="4754880"/>
          </a:xfrm>
          <a:prstGeom prst="rect">
            <a:avLst/>
          </a:prstGeom>
          <a:solidFill>
            <a:srgbClr val="101214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54480"/>
            <a:ext cx="48463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Courier New"/>
              </a:defRPr>
            </a:pPr>
            <a:r>
              <a:t>// COMPILED ACTION SCHEMA (PROMPT_MODE)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4846320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50">
                <a:solidFill>
                  <a:srgbClr val="A1A1AA"/>
                </a:solidFill>
                <a:latin typeface="Courier New"/>
              </a:defRPr>
            </a:pPr>
            <a:r>
              <a:t>{</a:t>
            </a:r>
          </a:p>
          <a:p>
            <a:pPr>
              <a:defRPr sz="1050" b="0">
                <a:solidFill>
                  <a:srgbClr val="06B6D4"/>
                </a:solidFill>
                <a:latin typeface="Courier New"/>
              </a:defRPr>
            </a:pPr>
            <a:r>
              <a:t>  "intent": "Scaffold a logistics status router"</a:t>
            </a:r>
          </a:p>
          <a:p>
            <a:pPr>
              <a:defRPr sz="1050" b="0">
                <a:solidFill>
                  <a:srgbClr val="A1A1AA"/>
                </a:solidFill>
                <a:latin typeface="Courier New"/>
              </a:defRPr>
            </a:pPr>
            <a:r>
              <a:t>  "target_file": "logistics_tracker.py",</a:t>
            </a:r>
          </a:p>
          <a:p>
            <a:pPr>
              <a:defRPr sz="1050" b="0">
                <a:solidFill>
                  <a:srgbClr val="A1A1AA"/>
                </a:solidFill>
                <a:latin typeface="Courier New"/>
              </a:defRPr>
            </a:pPr>
            <a:r>
              <a:t>  "action_type": "GENERATE_CODE",</a:t>
            </a:r>
          </a:p>
          <a:p>
            <a:pPr>
              <a:defRPr sz="1050" b="0">
                <a:solidFill>
                  <a:srgbClr val="A1A1AA"/>
                </a:solidFill>
                <a:latin typeface="Courier New"/>
              </a:defRPr>
            </a:pPr>
            <a:r>
              <a:t>  "validation_criteria": [</a:t>
            </a:r>
          </a:p>
          <a:p>
            <a:pPr>
              <a:defRPr sz="1050" b="0">
                <a:solidFill>
                  <a:srgbClr val="A1A1AA"/>
                </a:solidFill>
                <a:latin typeface="Courier New"/>
              </a:defRPr>
            </a:pPr>
            <a:r>
              <a:t>    "Endpoint /api/status returns online",</a:t>
            </a:r>
          </a:p>
          <a:p>
            <a:pPr>
              <a:defRPr sz="1050" b="0">
                <a:solidFill>
                  <a:srgbClr val="A1A1AA"/>
                </a:solidFill>
                <a:latin typeface="Courier New"/>
              </a:defRPr>
            </a:pPr>
            <a:r>
              <a:t>    "File compiles without SyntaxError"</a:t>
            </a:r>
          </a:p>
          <a:p>
            <a:pPr>
              <a:defRPr sz="1050" b="0">
                <a:solidFill>
                  <a:srgbClr val="A1A1AA"/>
                </a:solidFill>
                <a:latin typeface="Courier New"/>
              </a:defRPr>
            </a:pPr>
            <a:r>
              <a:t>  ],</a:t>
            </a:r>
          </a:p>
          <a:p>
            <a:pPr>
              <a:defRPr sz="1050" b="0">
                <a:solidFill>
                  <a:srgbClr val="A1A1AA"/>
                </a:solidFill>
                <a:latin typeface="Courier New"/>
              </a:defRPr>
            </a:pPr>
            <a:r>
              <a:t>  "cores_required": ["Core 00", "Core 01", "Core 02"]</a:t>
            </a:r>
          </a:p>
          <a:p>
            <a:pPr>
              <a:defRPr sz="1050" b="0">
                <a:solidFill>
                  <a:srgbClr val="A1A1AA"/>
                </a:solidFill>
                <a:latin typeface="Courier New"/>
              </a:defRPr>
            </a:pPr>
            <a:r>
              <a:t>}</a:t>
            </a:r>
          </a:p>
          <a:p>
            <a:pPr>
              <a:defRPr sz="1050" b="0">
                <a:solidFill>
                  <a:srgbClr val="A1A1AA"/>
                </a:solidFill>
                <a:latin typeface="Courier New"/>
              </a:defRPr>
            </a:pPr>
          </a:p>
          <a:p>
            <a:pPr>
              <a:defRPr sz="1000" b="1">
                <a:solidFill>
                  <a:srgbClr val="A3E635"/>
                </a:solidFill>
                <a:latin typeface="Courier New"/>
              </a:defRPr>
            </a:pPr>
            <a:r>
              <a:t>INTENT COMPILATION: SUCCESSFUL (200 OK)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52525B"/>
                </a:solidFill>
                <a:latin typeface="Courier New"/>
              </a:defRPr>
            </a:pPr>
            <a:r>
              <a:t>KRATOS OS SANDBOX SYSTEMS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44652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0">
                <a:solidFill>
                  <a:srgbClr val="52525B"/>
                </a:solidFill>
                <a:latin typeface="Courier New"/>
              </a:defRPr>
            </a:pPr>
            <a:r>
              <a:t>CONFIDENTIAL // DEVONLY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A3E635"/>
                </a:solidFill>
                <a:latin typeface="Courier New"/>
              </a:defRPr>
            </a:pPr>
            <a:r>
              <a:t>SLIDE 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418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1">
                <a:solidFill>
                  <a:srgbClr val="A3E635"/>
                </a:solidFill>
                <a:latin typeface="Courier New"/>
              </a:defRPr>
            </a:pPr>
            <a:r>
              <a:t>SYSTEM MODES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73152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onsolas"/>
              </a:defRPr>
            </a:pPr>
            <a:r>
              <a:t>Mode 02: DevCore Mode (Live Telemetry)</a:t>
            </a:r>
          </a:p>
        </p:txBody>
      </p:sp>
      <p:sp>
        <p:nvSpPr>
          <p:cNvPr id="5" name="Rectangle 4"/>
          <p:cNvSpPr/>
          <p:nvPr/>
        </p:nvSpPr>
        <p:spPr>
          <a:xfrm>
            <a:off x="9875520" y="320040"/>
            <a:ext cx="1767535" cy="365760"/>
          </a:xfrm>
          <a:prstGeom prst="rect">
            <a:avLst/>
          </a:prstGeom>
          <a:solidFill>
            <a:srgbClr val="0A0A0C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384048"/>
            <a:ext cx="1767535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900" b="1">
                <a:solidFill>
                  <a:srgbClr val="A3E635"/>
                </a:solidFill>
                <a:latin typeface="Courier New"/>
              </a:defRPr>
            </a:pPr>
            <a:r>
              <a:t>KRATOS OS V1.0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03520" cy="4754880"/>
          </a:xfrm>
          <a:prstGeom prst="rect">
            <a:avLst/>
          </a:prstGeom>
          <a:solidFill>
            <a:srgbClr val="141418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47548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Real-Time Telemetry &amp; Monitors</a:t>
            </a:r>
          </a:p>
          <a:p>
            <a:pPr>
              <a:defRPr sz="1200" b="0">
                <a:solidFill>
                  <a:srgbClr val="A1A1AA"/>
                </a:solidFill>
                <a:latin typeface="Calibri"/>
              </a:defRPr>
            </a:pPr>
            <a:r>
              <a:t>Live Dashboards: Exposes internal logs and status codes across the entire co-processor grid.</a:t>
            </a:r>
          </a:p>
          <a:p>
            <a:pPr>
              <a:defRPr sz="1200" b="0">
                <a:solidFill>
                  <a:srgbClr val="A1A1AA"/>
                </a:solidFill>
                <a:latin typeface="Calibri"/>
              </a:defRPr>
            </a:pPr>
            <a:r>
              <a:t>Activity Monitors: Shows color-coded states for each core (IDLE in dark gray, ACTIVE in pulsing lime, ERROR in blinking red).</a:t>
            </a:r>
          </a:p>
          <a:p>
            <a:pPr>
              <a:defRPr sz="1200" b="0">
                <a:solidFill>
                  <a:srgbClr val="A1A1AA"/>
                </a:solidFill>
                <a:latin typeface="Calibri"/>
              </a:defRPr>
            </a:pPr>
            <a:r>
              <a:t>Low Latency: Updates status and file writing actions utilizing short-polling WebSocket telemetry connections.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394960" cy="4754880"/>
          </a:xfrm>
          <a:prstGeom prst="rect">
            <a:avLst/>
          </a:prstGeom>
          <a:solidFill>
            <a:srgbClr val="0C0E12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54480"/>
            <a:ext cx="48463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Courier New"/>
              </a:defRPr>
            </a:pPr>
            <a:r>
              <a:t>// CORE PROCESSOR REGISTERS (DEVCORE_MODE)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4846320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00">
                <a:solidFill>
                  <a:srgbClr val="A1A1AA"/>
                </a:solidFill>
                <a:latin typeface="Courier New"/>
              </a:defRPr>
            </a:pPr>
            <a:r>
              <a:t>Planner   [Core 00]  |  STATE: IDLE        |  REG: 0x0</a:t>
            </a:r>
          </a:p>
          <a:p>
            <a:pPr>
              <a:defRPr sz="1000" b="1">
                <a:solidFill>
                  <a:srgbClr val="A3E635"/>
                </a:solidFill>
                <a:latin typeface="Courier New"/>
              </a:defRPr>
            </a:pPr>
            <a:r>
              <a:t>Coder     [Core 01]  |  STATE: WRITING     |  REG: 0x93FF</a:t>
            </a:r>
          </a:p>
          <a:p>
            <a:pPr>
              <a:defRPr sz="1000" b="0">
                <a:solidFill>
                  <a:srgbClr val="A1A1AA"/>
                </a:solidFill>
                <a:latin typeface="Courier New"/>
              </a:defRPr>
            </a:pPr>
            <a:r>
              <a:t>Tester    [Core 02]  |  STATE: WAITING     |  REG: 0x0</a:t>
            </a:r>
          </a:p>
          <a:p>
            <a:pPr>
              <a:defRPr sz="1000" b="0">
                <a:solidFill>
                  <a:srgbClr val="A1A1AA"/>
                </a:solidFill>
                <a:latin typeface="Courier New"/>
              </a:defRPr>
            </a:pPr>
            <a:r>
              <a:t>Corrector [Core 03]  |  STATE: WAITING     |  REG: 0x0</a:t>
            </a:r>
          </a:p>
          <a:p>
            <a:pPr>
              <a:defRPr sz="1000" b="0">
                <a:solidFill>
                  <a:srgbClr val="A1A1AA"/>
                </a:solidFill>
                <a:latin typeface="Courier New"/>
              </a:defRPr>
            </a:pPr>
            <a:r>
              <a:t>Deployer  [Core 04]  |  STATE: WAITING     |  REG: 0x0</a:t>
            </a:r>
          </a:p>
          <a:p>
            <a:pPr>
              <a:defRPr sz="1000" b="0">
                <a:solidFill>
                  <a:srgbClr val="06B6D4"/>
                </a:solidFill>
                <a:latin typeface="Courier New"/>
              </a:defRPr>
            </a:pPr>
            <a:r>
              <a:t>Ledger    [Core 05]  |  STATE: SYNCED      |  REG: 0x4A1</a:t>
            </a:r>
          </a:p>
          <a:p>
            <a:pPr>
              <a:defRPr sz="1000" b="0">
                <a:solidFill>
                  <a:srgbClr val="A1A1AA"/>
                </a:solidFill>
                <a:latin typeface="Courier New"/>
              </a:defRPr>
            </a:pPr>
          </a:p>
          <a:p>
            <a:pPr>
              <a:defRPr sz="1000" b="0">
                <a:solidFill>
                  <a:srgbClr val="A1A1AA"/>
                </a:solidFill>
                <a:latin typeface="Courier New"/>
              </a:defRPr>
            </a:pPr>
            <a:r>
              <a:t>FILE_BUFFER_TARGET: file:///app/logistics_tracker.py</a:t>
            </a:r>
          </a:p>
          <a:p>
            <a:pPr>
              <a:defRPr sz="1000" b="0">
                <a:solidFill>
                  <a:srgbClr val="A3E635"/>
                </a:solidFill>
                <a:latin typeface="Courier New"/>
              </a:defRPr>
            </a:pPr>
            <a:r>
              <a:t>LAST_WRITE_OP: write_block (lines 12-45 succeeded)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52525B"/>
                </a:solidFill>
                <a:latin typeface="Courier New"/>
              </a:defRPr>
            </a:pPr>
            <a:r>
              <a:t>KRATOS OS SANDBOX SYSTEMS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44652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0">
                <a:solidFill>
                  <a:srgbClr val="52525B"/>
                </a:solidFill>
                <a:latin typeface="Courier New"/>
              </a:defRPr>
            </a:pPr>
            <a:r>
              <a:t>CONFIDENTIAL // DEVONLY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A3E635"/>
                </a:solidFill>
                <a:latin typeface="Courier New"/>
              </a:defRPr>
            </a:pPr>
            <a:r>
              <a:t>SLIDE 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418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1">
                <a:solidFill>
                  <a:srgbClr val="A3E635"/>
                </a:solidFill>
                <a:latin typeface="Courier New"/>
              </a:defRPr>
            </a:pPr>
            <a:r>
              <a:t>SYSTEM MODES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73152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onsolas"/>
              </a:defRPr>
            </a:pPr>
            <a:r>
              <a:t>Mode 03: Chaos Mode (Disruption Testing)</a:t>
            </a:r>
          </a:p>
        </p:txBody>
      </p:sp>
      <p:sp>
        <p:nvSpPr>
          <p:cNvPr id="5" name="Rectangle 4"/>
          <p:cNvSpPr/>
          <p:nvPr/>
        </p:nvSpPr>
        <p:spPr>
          <a:xfrm>
            <a:off x="9875520" y="320040"/>
            <a:ext cx="1767535" cy="365760"/>
          </a:xfrm>
          <a:prstGeom prst="rect">
            <a:avLst/>
          </a:prstGeom>
          <a:solidFill>
            <a:srgbClr val="0A0A0C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384048"/>
            <a:ext cx="1767535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900" b="1">
                <a:solidFill>
                  <a:srgbClr val="A3E635"/>
                </a:solidFill>
                <a:latin typeface="Courier New"/>
              </a:defRPr>
            </a:pPr>
            <a:r>
              <a:t>KRATOS OS V1.0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03520" cy="2194560"/>
          </a:xfrm>
          <a:prstGeom prst="rect">
            <a:avLst/>
          </a:prstGeom>
          <a:solidFill>
            <a:srgbClr val="141418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75488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Resilience and Stress-Testing</a:t>
            </a:r>
          </a:p>
          <a:p>
            <a:pPr>
              <a:defRPr sz="1150" b="0">
                <a:solidFill>
                  <a:srgbClr val="A1A1AA"/>
                </a:solidFill>
                <a:latin typeface="Calibri"/>
              </a:defRPr>
            </a:pPr>
            <a:r>
              <a:t>Disruption Simulator: Injects deliberate logic faults, file write locks, and database connection timeouts.</a:t>
            </a:r>
          </a:p>
          <a:p>
            <a:pPr>
              <a:defRPr sz="1150" b="0">
                <a:solidFill>
                  <a:srgbClr val="A1A1AA"/>
                </a:solidFill>
                <a:latin typeface="Calibri"/>
              </a:defRPr>
            </a:pPr>
            <a:r>
              <a:t>Healing Assessment: Tests if Core 03 (Corrector) can intercept raw compiler stack traces and fix errors autonomously.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749039"/>
            <a:ext cx="5303520" cy="2377440"/>
          </a:xfrm>
          <a:prstGeom prst="rect">
            <a:avLst/>
          </a:prstGeom>
          <a:solidFill>
            <a:srgbClr val="0A0A0C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roken_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794760"/>
            <a:ext cx="5212080" cy="22860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217920" y="1371600"/>
            <a:ext cx="5394960" cy="4754880"/>
          </a:xfrm>
          <a:prstGeom prst="rect">
            <a:avLst/>
          </a:prstGeom>
          <a:solidFill>
            <a:srgbClr val="160C0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48463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Courier New"/>
              </a:defRPr>
            </a:pPr>
            <a:r>
              <a:t>!! WARNING: CHAOS MONKEY STRESS TRIGGERED !!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11680"/>
            <a:ext cx="4846320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00">
                <a:solidFill>
                  <a:srgbClr val="EF4444"/>
                </a:solidFill>
                <a:latin typeface="Courier New"/>
              </a:defRPr>
            </a:pPr>
            <a:r>
              <a:t>[CHAOS_SIM] State changed to ACTIVE.</a:t>
            </a:r>
          </a:p>
          <a:p>
            <a:pPr>
              <a:defRPr sz="1000" b="0">
                <a:solidFill>
                  <a:srgbClr val="EF4444"/>
                </a:solidFill>
                <a:latin typeface="Courier New"/>
              </a:defRPr>
            </a:pPr>
            <a:r>
              <a:t>[CHAOS_SIM] Injecting ZeroDivisionError into dashboard_analytics.py</a:t>
            </a:r>
          </a:p>
          <a:p>
            <a:pPr>
              <a:defRPr sz="1000" b="0">
                <a:solidFill>
                  <a:srgbClr val="A1A1AA"/>
                </a:solidFill>
                <a:latin typeface="Courier New"/>
              </a:defRPr>
            </a:pPr>
            <a:r>
              <a:t>[CORE 02] Running test verification...</a:t>
            </a:r>
          </a:p>
          <a:p>
            <a:pPr>
              <a:defRPr sz="1000" b="1">
                <a:solidFill>
                  <a:srgbClr val="EF4444"/>
                </a:solidFill>
                <a:latin typeface="Courier New"/>
              </a:defRPr>
            </a:pPr>
            <a:r>
              <a:t>[CORE 02] TEST FAILED: ZeroDivisionError at line 42.</a:t>
            </a:r>
          </a:p>
          <a:p>
            <a:pPr>
              <a:defRPr sz="1000" b="0">
                <a:solidFill>
                  <a:srgbClr val="A3E635"/>
                </a:solidFill>
                <a:latin typeface="Courier New"/>
              </a:defRPr>
            </a:pPr>
            <a:r>
              <a:t>[CORE 03] Intercepting traceback exception...</a:t>
            </a:r>
          </a:p>
          <a:p>
            <a:pPr>
              <a:defRPr sz="1000" b="1">
                <a:solidFill>
                  <a:srgbClr val="A3E635"/>
                </a:solidFill>
                <a:latin typeface="Courier New"/>
              </a:defRPr>
            </a:pPr>
            <a:r>
              <a:t>[CORE 03] Hotfix applied: wrapped line 42 in denominator checks.</a:t>
            </a:r>
          </a:p>
          <a:p>
            <a:pPr>
              <a:defRPr sz="1000" b="0">
                <a:solidFill>
                  <a:srgbClr val="A1A1AA"/>
                </a:solidFill>
                <a:latin typeface="Courier New"/>
              </a:defRPr>
            </a:pPr>
            <a:r>
              <a:t>[CORE 02] Re-running verification checks...</a:t>
            </a:r>
          </a:p>
          <a:p>
            <a:pPr>
              <a:defRPr sz="1000" b="0">
                <a:solidFill>
                  <a:srgbClr val="A3E635"/>
                </a:solidFill>
                <a:latin typeface="Courier New"/>
              </a:defRPr>
            </a:pPr>
            <a:r>
              <a:t>[CORE 02] VERIFICATION COMPLETED (Exit Code 0).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52525B"/>
                </a:solidFill>
                <a:latin typeface="Courier New"/>
              </a:defRPr>
            </a:pPr>
            <a:r>
              <a:t>KRATOS OS SANDBOX SYSTEMS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644652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0">
                <a:solidFill>
                  <a:srgbClr val="52525B"/>
                </a:solidFill>
                <a:latin typeface="Courier New"/>
              </a:defRPr>
            </a:pPr>
            <a:r>
              <a:t>CONFIDENTIAL // DEVONLY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A3E635"/>
                </a:solidFill>
                <a:latin typeface="Courier New"/>
              </a:defRPr>
            </a:pPr>
            <a:r>
              <a:t>SLIDE 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418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1">
                <a:solidFill>
                  <a:srgbClr val="A3E635"/>
                </a:solidFill>
                <a:latin typeface="Courier New"/>
              </a:defRPr>
            </a:pPr>
            <a:r>
              <a:t>SYSTEM MODES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73152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onsolas"/>
              </a:defRPr>
            </a:pPr>
            <a:r>
              <a:t>Mode 04: Chronos Mode (Ledger Timeline)</a:t>
            </a:r>
          </a:p>
        </p:txBody>
      </p:sp>
      <p:sp>
        <p:nvSpPr>
          <p:cNvPr id="5" name="Rectangle 4"/>
          <p:cNvSpPr/>
          <p:nvPr/>
        </p:nvSpPr>
        <p:spPr>
          <a:xfrm>
            <a:off x="9875520" y="320040"/>
            <a:ext cx="1767535" cy="365760"/>
          </a:xfrm>
          <a:prstGeom prst="rect">
            <a:avLst/>
          </a:prstGeom>
          <a:solidFill>
            <a:srgbClr val="0A0A0C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384048"/>
            <a:ext cx="1767535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900" b="1">
                <a:solidFill>
                  <a:srgbClr val="A3E635"/>
                </a:solidFill>
                <a:latin typeface="Courier New"/>
              </a:defRPr>
            </a:pPr>
            <a:r>
              <a:t>KRATOS OS V1.0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303520" cy="2194560"/>
          </a:xfrm>
          <a:prstGeom prst="rect">
            <a:avLst/>
          </a:prstGeom>
          <a:solidFill>
            <a:srgbClr val="141418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75488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Time-Travel State Restoration</a:t>
            </a:r>
          </a:p>
          <a:p>
            <a:pPr>
              <a:defRPr sz="1150" b="0">
                <a:solidFill>
                  <a:srgbClr val="A1A1AA"/>
                </a:solidFill>
                <a:latin typeface="Calibri"/>
              </a:defRPr>
            </a:pPr>
            <a:r>
              <a:t>Workspace Snapshots: Records full checklists, parameters, and physical source file states at every compilation node.</a:t>
            </a:r>
          </a:p>
          <a:p>
            <a:pPr>
              <a:defRPr sz="1150" b="0">
                <a:solidFill>
                  <a:srgbClr val="A1A1AA"/>
                </a:solidFill>
                <a:latin typeface="Calibri"/>
              </a:defRPr>
            </a:pPr>
            <a:r>
              <a:t>Rollbacks: Triggers zero-loss workspace restoration to any historical checkpoint hash, instantly resetting processor states.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749039"/>
            <a:ext cx="5303520" cy="2377440"/>
          </a:xfrm>
          <a:prstGeom prst="rect">
            <a:avLst/>
          </a:prstGeom>
          <a:solidFill>
            <a:srgbClr val="0A0A0C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imeline_c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794760"/>
            <a:ext cx="5212080" cy="22860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217920" y="1371600"/>
            <a:ext cx="5394960" cy="4754880"/>
          </a:xfrm>
          <a:prstGeom prst="rect">
            <a:avLst/>
          </a:prstGeom>
          <a:solidFill>
            <a:srgbClr val="101210"/>
          </a:solidFill>
          <a:ln w="1905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554480"/>
            <a:ext cx="48463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100" b="1">
                <a:solidFill>
                  <a:srgbClr val="A3E635"/>
                </a:solidFill>
                <a:latin typeface="Courier New"/>
              </a:defRPr>
            </a:pPr>
            <a:r>
              <a:t>⏳ CHRONOS TIME-TRAVEL JOURNAL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11680"/>
            <a:ext cx="4846320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000">
                <a:solidFill>
                  <a:srgbClr val="A1A1AA"/>
                </a:solidFill>
                <a:latin typeface="Courier New"/>
              </a:defRPr>
            </a:pPr>
            <a:r>
              <a:t>Snapshot #189  |  STATE: PLANNING  |  (11:22:29)</a:t>
            </a:r>
          </a:p>
          <a:p>
            <a:pPr>
              <a:defRPr sz="1000" b="0">
                <a:solidFill>
                  <a:srgbClr val="A1A1AA"/>
                </a:solidFill>
                <a:latin typeface="Courier New"/>
              </a:defRPr>
            </a:pPr>
            <a:r>
              <a:t>Snapshot #190  |  STATE: CODING    |  (11:22:37)</a:t>
            </a:r>
          </a:p>
          <a:p>
            <a:pPr>
              <a:defRPr sz="1000" b="0">
                <a:solidFill>
                  <a:srgbClr val="A1A1AA"/>
                </a:solidFill>
                <a:latin typeface="Courier New"/>
              </a:defRPr>
            </a:pPr>
            <a:r>
              <a:t>Snapshot #191  |  STATE: TESTED    |  (11:22:40)</a:t>
            </a:r>
          </a:p>
          <a:p>
            <a:pPr>
              <a:defRPr sz="1000" b="0">
                <a:solidFill>
                  <a:srgbClr val="06B6D4"/>
                </a:solidFill>
                <a:latin typeface="Courier New"/>
              </a:defRPr>
            </a:pPr>
            <a:r>
              <a:t>Snapshot #192  |  STATE: DEPLOYED  |  (11:22:42) // LATEST</a:t>
            </a:r>
          </a:p>
          <a:p>
            <a:pPr>
              <a:defRPr sz="1000" b="0">
                <a:solidFill>
                  <a:srgbClr val="A1A1AA"/>
                </a:solidFill>
                <a:latin typeface="Courier New"/>
              </a:defRPr>
            </a:pPr>
          </a:p>
          <a:p>
            <a:pPr>
              <a:defRPr sz="1000" b="1">
                <a:solidFill>
                  <a:srgbClr val="EF4444"/>
                </a:solidFill>
                <a:latin typeface="Courier New"/>
              </a:defRPr>
            </a:pPr>
            <a:r>
              <a:t>[ACTION] ROLLBACK INITIATED TO SNAPSHOT #189</a:t>
            </a:r>
          </a:p>
          <a:p>
            <a:pPr>
              <a:defRPr sz="1000" b="0">
                <a:solidFill>
                  <a:srgbClr val="A1A1AA"/>
                </a:solidFill>
                <a:latin typeface="Courier New"/>
              </a:defRPr>
            </a:pPr>
            <a:r>
              <a:t>[LEDGER] Reverting source files to Snapshot #189 hash...</a:t>
            </a:r>
          </a:p>
          <a:p>
            <a:pPr>
              <a:defRPr sz="1000" b="1">
                <a:solidFill>
                  <a:srgbClr val="A3E635"/>
                </a:solidFill>
                <a:latin typeface="Courier New"/>
              </a:defRPr>
            </a:pPr>
            <a:r>
              <a:t>[LEDGER] System registers reverted. Core states reset.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52525B"/>
                </a:solidFill>
                <a:latin typeface="Courier New"/>
              </a:defRPr>
            </a:pPr>
            <a:r>
              <a:t>KRATOS OS SANDBOX SYSTEMS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644652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0">
                <a:solidFill>
                  <a:srgbClr val="52525B"/>
                </a:solidFill>
                <a:latin typeface="Courier New"/>
              </a:defRPr>
            </a:pPr>
            <a:r>
              <a:t>CONFIDENTIAL // DEVONLY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A3E635"/>
                </a:solidFill>
                <a:latin typeface="Courier New"/>
              </a:defRPr>
            </a:pPr>
            <a:r>
              <a:t>SLIDE 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418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1">
                <a:solidFill>
                  <a:srgbClr val="A3E635"/>
                </a:solidFill>
                <a:latin typeface="Courier New"/>
              </a:defRPr>
            </a:pPr>
            <a:r>
              <a:t>TECHNICAL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73152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onsolas"/>
              </a:defRPr>
            </a:pPr>
            <a:r>
              <a:t>Under the Hood: LangGraph &amp; SQLite Ledger</a:t>
            </a:r>
          </a:p>
        </p:txBody>
      </p:sp>
      <p:sp>
        <p:nvSpPr>
          <p:cNvPr id="5" name="Rectangle 4"/>
          <p:cNvSpPr/>
          <p:nvPr/>
        </p:nvSpPr>
        <p:spPr>
          <a:xfrm>
            <a:off x="9875520" y="320040"/>
            <a:ext cx="1767535" cy="365760"/>
          </a:xfrm>
          <a:prstGeom prst="rect">
            <a:avLst/>
          </a:prstGeom>
          <a:solidFill>
            <a:srgbClr val="0A0A0C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384048"/>
            <a:ext cx="1767535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900" b="1">
                <a:solidFill>
                  <a:srgbClr val="A3E635"/>
                </a:solidFill>
                <a:latin typeface="Courier New"/>
              </a:defRPr>
            </a:pPr>
            <a:r>
              <a:t>KRATOS OS V1.0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3474720" cy="4754880"/>
          </a:xfrm>
          <a:prstGeom prst="rect">
            <a:avLst/>
          </a:prstGeom>
          <a:solidFill>
            <a:srgbClr val="141418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31089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A3E635"/>
                </a:solidFill>
                <a:latin typeface="Courier New"/>
              </a:defRPr>
            </a:pPr>
            <a:r>
              <a:t>01 / LANGGRAPH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3108960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onsolas"/>
              </a:defRPr>
            </a:pPr>
            <a:r>
              <a:t>Message Routing</a:t>
            </a:r>
          </a:p>
          <a:p>
            <a:pPr>
              <a:defRPr sz="1050" b="0">
                <a:solidFill>
                  <a:srgbClr val="A1A1AA"/>
                </a:solidFill>
                <a:latin typeface="Calibri"/>
              </a:defRPr>
            </a:pPr>
            <a:r>
              <a:t>Coordinates all tasks using a central dictionary state containing target codes and test logs.</a:t>
            </a:r>
          </a:p>
          <a:p>
            <a:pPr>
              <a:defRPr sz="1050" b="0">
                <a:solidFill>
                  <a:srgbClr val="A1A1AA"/>
                </a:solidFill>
                <a:latin typeface="Calibri"/>
              </a:defRPr>
            </a:pPr>
            <a:r>
              <a:t>Cores run as isolated execution nodes in a closed cycle.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3410712" cy="4754880"/>
          </a:xfrm>
          <a:prstGeom prst="rect">
            <a:avLst/>
          </a:prstGeom>
          <a:solidFill>
            <a:srgbClr val="0A0A0C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ore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417320"/>
            <a:ext cx="3319272" cy="46634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8165592" y="1371600"/>
            <a:ext cx="3474720" cy="4754880"/>
          </a:xfrm>
          <a:prstGeom prst="rect">
            <a:avLst/>
          </a:prstGeom>
          <a:solidFill>
            <a:srgbClr val="141418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2" y="1554480"/>
            <a:ext cx="31089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  <a:latin typeface="Courier New"/>
              </a:defRPr>
            </a:pPr>
            <a:r>
              <a:t>02 / SQLite DUAL LEDGER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2" y="2011680"/>
            <a:ext cx="3108960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onsolas"/>
              </a:defRPr>
            </a:pPr>
            <a:r>
              <a:t>Timeline Checking</a:t>
            </a:r>
          </a:p>
          <a:p>
            <a:pPr>
              <a:defRPr sz="1050" b="0">
                <a:solidFill>
                  <a:srgbClr val="A1A1AA"/>
                </a:solidFill>
                <a:latin typeface="Calibri"/>
              </a:defRPr>
            </a:pPr>
            <a:r>
              <a:t>Writes commits locally to a time-series journal in `hydradb.db` at every single core check.</a:t>
            </a:r>
          </a:p>
          <a:p>
            <a:pPr>
              <a:defRPr sz="1050" b="0">
                <a:solidFill>
                  <a:srgbClr val="A1A1AA"/>
                </a:solidFill>
                <a:latin typeface="Calibri"/>
              </a:defRPr>
            </a:pPr>
            <a:r>
              <a:t>Enables instant git-like diff comparisons and rollback queries.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52525B"/>
                </a:solidFill>
                <a:latin typeface="Courier New"/>
              </a:defRPr>
            </a:pPr>
            <a:r>
              <a:t>KRATOS OS SANDBOX SYSTEMS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644652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0">
                <a:solidFill>
                  <a:srgbClr val="52525B"/>
                </a:solidFill>
                <a:latin typeface="Courier New"/>
              </a:defRPr>
            </a:pPr>
            <a:r>
              <a:t>CONFIDENTIAL // DEVONLY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A3E635"/>
                </a:solidFill>
                <a:latin typeface="Courier New"/>
              </a:defRPr>
            </a:pPr>
            <a:r>
              <a:t>SLIDE 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418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1">
                <a:solidFill>
                  <a:srgbClr val="A3E635"/>
                </a:solidFill>
                <a:latin typeface="Courier New"/>
              </a:defRPr>
            </a:pPr>
            <a:r>
              <a:t>BUSINESS AND OPERATION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73152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onsolas"/>
              </a:defRPr>
            </a:pPr>
            <a:r>
              <a:t>Value Analysis: Reliability &amp; Development Speed</a:t>
            </a:r>
          </a:p>
        </p:txBody>
      </p:sp>
      <p:sp>
        <p:nvSpPr>
          <p:cNvPr id="5" name="Rectangle 4"/>
          <p:cNvSpPr/>
          <p:nvPr/>
        </p:nvSpPr>
        <p:spPr>
          <a:xfrm>
            <a:off x="9875520" y="320040"/>
            <a:ext cx="1767535" cy="365760"/>
          </a:xfrm>
          <a:prstGeom prst="rect">
            <a:avLst/>
          </a:prstGeom>
          <a:solidFill>
            <a:srgbClr val="0A0A0C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384048"/>
            <a:ext cx="1767535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900" b="1">
                <a:solidFill>
                  <a:srgbClr val="A3E635"/>
                </a:solidFill>
                <a:latin typeface="Courier New"/>
              </a:defRPr>
            </a:pPr>
            <a:r>
              <a:t>KRATOS OS V1.0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3447288" cy="4754880"/>
          </a:xfrm>
          <a:prstGeom prst="rect">
            <a:avLst/>
          </a:prstGeom>
          <a:solidFill>
            <a:srgbClr val="141418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3081528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A3E635"/>
                </a:solidFill>
                <a:latin typeface="Courier New"/>
              </a:defRPr>
            </a:pPr>
            <a:r>
              <a:t>99% LESS MANUAL DEBUGGING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3081528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onsolas"/>
              </a:defRPr>
            </a:pPr>
            <a:r>
              <a:t>Autonomous Hotfixing</a:t>
            </a:r>
          </a:p>
          <a:p>
            <a:pPr>
              <a:defRPr sz="1100" b="0">
                <a:solidFill>
                  <a:srgbClr val="A1A1AA"/>
                </a:solidFill>
                <a:latin typeface="Calibri"/>
              </a:defRPr>
            </a:pPr>
            <a:r>
              <a:t>Core 03 (Corrector) intercepts traceback exceptions and writes patches immediately.</a:t>
            </a:r>
          </a:p>
          <a:p>
            <a:pPr>
              <a:defRPr sz="1100" b="0">
                <a:solidFill>
                  <a:srgbClr val="A1A1AA"/>
                </a:solidFill>
                <a:latin typeface="Calibri"/>
              </a:defRPr>
            </a:pPr>
            <a:r>
              <a:t>Reduces development cycles by bypassing continuous manual code adjustments and testing.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1688" y="1371600"/>
            <a:ext cx="3447288" cy="4754880"/>
          </a:xfrm>
          <a:prstGeom prst="rect">
            <a:avLst/>
          </a:prstGeom>
          <a:solidFill>
            <a:srgbClr val="141418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554480"/>
            <a:ext cx="3081528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06B6D4"/>
                </a:solidFill>
                <a:latin typeface="Courier New"/>
              </a:defRPr>
            </a:pPr>
            <a:r>
              <a:t>ZERO RISK CODE MUTATIONS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011680"/>
            <a:ext cx="3081528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onsolas"/>
              </a:defRPr>
            </a:pPr>
            <a:r>
              <a:t>Fail-Safe Rollbacks</a:t>
            </a:r>
          </a:p>
          <a:p>
            <a:pPr>
              <a:defRPr sz="1100" b="0">
                <a:solidFill>
                  <a:srgbClr val="A1A1AA"/>
                </a:solidFill>
                <a:latin typeface="Calibri"/>
              </a:defRPr>
            </a:pPr>
            <a:r>
              <a:t>Chronos Mode makes destructive software trials risk-free.</a:t>
            </a:r>
          </a:p>
          <a:p>
            <a:pPr>
              <a:defRPr sz="1100" b="0">
                <a:solidFill>
                  <a:srgbClr val="A1A1AA"/>
                </a:solidFill>
                <a:latin typeface="Calibri"/>
              </a:defRPr>
            </a:pPr>
            <a:r>
              <a:t>Allows developers to safely test extreme prompts, secure in the knowledge that any historical snapshot can be restored instantly.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74736" y="1371600"/>
            <a:ext cx="3447288" cy="4754880"/>
          </a:xfrm>
          <a:prstGeom prst="rect">
            <a:avLst/>
          </a:prstGeom>
          <a:solidFill>
            <a:srgbClr val="141418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6" y="1554480"/>
            <a:ext cx="3081528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ourier New"/>
              </a:defRPr>
            </a:pPr>
            <a:r>
              <a:t>TRANSPARENT SYSTEM TRAILS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6" y="2011680"/>
            <a:ext cx="3081528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onsolas"/>
              </a:defRPr>
            </a:pPr>
            <a:r>
              <a:t>Audit-Ready Logs</a:t>
            </a:r>
          </a:p>
          <a:p>
            <a:pPr>
              <a:defRPr sz="1100" b="0">
                <a:solidFill>
                  <a:srgbClr val="A1A1AA"/>
                </a:solidFill>
                <a:latin typeface="Calibri"/>
              </a:defRPr>
            </a:pPr>
            <a:r>
              <a:t>All agent prompts, checklist outputs, and file writes are logged systematically to SQLite.</a:t>
            </a:r>
          </a:p>
          <a:p>
            <a:pPr>
              <a:defRPr sz="1100" b="0">
                <a:solidFill>
                  <a:srgbClr val="A1A1AA"/>
                </a:solidFill>
                <a:latin typeface="Calibri"/>
              </a:defRPr>
            </a:pPr>
            <a:r>
              <a:t>Provides comprehensive compliance records, making multi-agent operations fully transparent and explainable.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52525B"/>
                </a:solidFill>
                <a:latin typeface="Courier New"/>
              </a:defRPr>
            </a:pPr>
            <a:r>
              <a:t>KRATOS OS SANDBOX 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644652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0">
                <a:solidFill>
                  <a:srgbClr val="52525B"/>
                </a:solidFill>
                <a:latin typeface="Courier New"/>
              </a:defRPr>
            </a:pPr>
            <a:r>
              <a:t>CONFIDENTIAL // DEVONLY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A3E635"/>
                </a:solidFill>
                <a:latin typeface="Courier New"/>
              </a:defRPr>
            </a:pPr>
            <a:r>
              <a:t>SLIDE 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41418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1">
                <a:solidFill>
                  <a:srgbClr val="A3E635"/>
                </a:solidFill>
                <a:latin typeface="Courier New"/>
              </a:defRPr>
            </a:pPr>
            <a:r>
              <a:t>FUTURE OUTLOOK AND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73152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onsolas"/>
              </a:defRPr>
            </a:pPr>
            <a:r>
              <a:t>Roadmap: Scaling Agent Runtimes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875520" y="320040"/>
            <a:ext cx="1767535" cy="365760"/>
          </a:xfrm>
          <a:prstGeom prst="rect">
            <a:avLst/>
          </a:prstGeom>
          <a:solidFill>
            <a:srgbClr val="0A0A0C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0" y="384048"/>
            <a:ext cx="1767535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900" b="1">
                <a:solidFill>
                  <a:srgbClr val="A3E635"/>
                </a:solidFill>
                <a:latin typeface="Courier New"/>
              </a:defRPr>
            </a:pPr>
            <a:r>
              <a:t>KRATOS OS V1.0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6217920" cy="4754880"/>
          </a:xfrm>
          <a:prstGeom prst="rect">
            <a:avLst/>
          </a:prstGeom>
          <a:solidFill>
            <a:srgbClr val="141418"/>
          </a:solidFill>
          <a:ln w="19050"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56692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onsolas"/>
              </a:defRPr>
            </a:pPr>
            <a:r>
              <a:t>Future Project Milestones</a:t>
            </a:r>
          </a:p>
          <a:p>
            <a:pPr>
              <a:defRPr sz="1200" b="0">
                <a:solidFill>
                  <a:srgbClr val="A1A1AA"/>
                </a:solidFill>
                <a:latin typeface="Calibri"/>
              </a:defRPr>
            </a:pPr>
            <a:r>
              <a:t>Kratos OS v1.5 [Kubernetes Integration]: Scaled test runners to isolated, transient container pods for parallel compilation verification.</a:t>
            </a:r>
          </a:p>
          <a:p>
            <a:pPr>
              <a:defRPr sz="1200" b="0">
                <a:solidFill>
                  <a:srgbClr val="A1A1AA"/>
                </a:solidFill>
                <a:latin typeface="Calibri"/>
              </a:defRPr>
            </a:pPr>
            <a:r>
              <a:t>Kratos OS v2.0 [Hardware Enclaves]: Compilation and file writes executed inside Intel SGX or AWS Nitro Enclaves to guarantee zero-trust code environments.</a:t>
            </a:r>
          </a:p>
          <a:p>
            <a:pPr>
              <a:defRPr sz="1200" b="0">
                <a:solidFill>
                  <a:srgbClr val="A1A1AA"/>
                </a:solidFill>
                <a:latin typeface="Calibri"/>
              </a:defRPr>
            </a:pPr>
            <a:r>
              <a:t>Kratos OS v2.5 [Consensus Engine]: Multi-agent code peer review. Codes must be approved by three separate LLM verifiers before deployment.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1371600"/>
            <a:ext cx="4480560" cy="4754880"/>
          </a:xfrm>
          <a:prstGeom prst="rect">
            <a:avLst/>
          </a:prstGeom>
          <a:solidFill>
            <a:srgbClr val="141418"/>
          </a:solidFill>
          <a:ln w="19050">
            <a:solidFill>
              <a:srgbClr val="A3E6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1554480"/>
            <a:ext cx="39319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200" b="1">
                <a:solidFill>
                  <a:srgbClr val="A3E635"/>
                </a:solidFill>
                <a:latin typeface="Courier New"/>
              </a:defRPr>
            </a:pPr>
            <a:r>
              <a:t>KRATOS OS SANDBOX ACTIVE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011680"/>
            <a:ext cx="3931920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onsolas"/>
              </a:defRPr>
            </a:pPr>
            <a:r>
              <a:t>System Summary:</a:t>
            </a:r>
          </a:p>
          <a:p>
            <a:pPr>
              <a:defRPr sz="1100" b="0">
                <a:solidFill>
                  <a:srgbClr val="A1A1AA"/>
                </a:solidFill>
                <a:latin typeface="Calibri"/>
              </a:defRPr>
            </a:pPr>
            <a:r>
              <a:t>✔ 6-Core Engine is active and stable.</a:t>
            </a:r>
          </a:p>
          <a:p>
            <a:pPr>
              <a:defRPr sz="1100" b="0">
                <a:solidFill>
                  <a:srgbClr val="A1A1AA"/>
                </a:solidFill>
                <a:latin typeface="Calibri"/>
              </a:defRPr>
            </a:pPr>
            <a:r>
              <a:t>✔ Prompt, DevCore, Chaos, and Chronos Modes fully operational.</a:t>
            </a:r>
          </a:p>
          <a:p>
            <a:pPr>
              <a:defRPr sz="1100" b="0">
                <a:solidFill>
                  <a:srgbClr val="A1A1AA"/>
                </a:solidFill>
                <a:latin typeface="Calibri"/>
              </a:defRPr>
            </a:pPr>
            <a:r>
              <a:t>✔ Secure SQLite timeline persistence active.</a:t>
            </a:r>
          </a:p>
          <a:p>
            <a:pPr>
              <a:defRPr sz="1100" b="1">
                <a:solidFill>
                  <a:srgbClr val="A3E635"/>
                </a:solidFill>
                <a:latin typeface="Calibri"/>
              </a:defRPr>
            </a:pPr>
            <a:r>
              <a:t>✔ Ready for natural language intent scaffolding.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defRPr sz="900" b="0">
                <a:solidFill>
                  <a:srgbClr val="52525B"/>
                </a:solidFill>
                <a:latin typeface="Courier New"/>
              </a:defRPr>
            </a:pPr>
            <a:r>
              <a:t>KRATOS OS SANDBOX SYSTEMS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446520"/>
            <a:ext cx="2743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0">
                <a:solidFill>
                  <a:srgbClr val="52525B"/>
                </a:solidFill>
                <a:latin typeface="Courier New"/>
              </a:defRPr>
            </a:pPr>
            <a:r>
              <a:t>CONFIDENTIAL // DEVONLY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 sz="900" b="1">
                <a:solidFill>
                  <a:srgbClr val="A3E635"/>
                </a:solidFill>
                <a:latin typeface="Courier New"/>
              </a:defRPr>
            </a:pPr>
            <a:r>
              <a:t>SLIDE 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